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73" r:id="rId15"/>
    <p:sldId id="267" r:id="rId16"/>
    <p:sldId id="272" r:id="rId17"/>
    <p:sldId id="269" r:id="rId18"/>
    <p:sldId id="274" r:id="rId19"/>
  </p:sldIdLst>
  <p:sldSz cx="12192000" cy="6858000"/>
  <p:notesSz cx="6858000" cy="9144000"/>
  <p:embeddedFontLst>
    <p:embeddedFont>
      <p:font typeface="Microsoft Yahei" panose="020B0503020204020204" pitchFamily="34" charset="-122"/>
      <p:regular r:id="rId21"/>
      <p:bold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gDLXWw8e8bPOiIwsYzwEgRLTC4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4a0eaa76b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4a0eaa76b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4a0eaa76b4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4a0eaa76b4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&#10;コンテンツ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&#10;縦書きテキスト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&#10;縦書きテキスト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ja-JP"/>
              <a:t>端末入替BusinessCounter同期問題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ja-JP"/>
              <a:t>20230522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903266" y="4367894"/>
            <a:ext cx="2264477" cy="225763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A端末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7740571" y="4380733"/>
            <a:ext cx="3029209" cy="208103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B端末</a:t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704007" y="810514"/>
            <a:ext cx="1921163" cy="98829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運用監視ツール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5045199" y="504206"/>
            <a:ext cx="5331608" cy="272068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Azure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1164936" y="5091764"/>
            <a:ext cx="1741135" cy="99903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POSシステム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6188918" y="1860209"/>
            <a:ext cx="1522085" cy="1325543"/>
          </a:xfrm>
          <a:prstGeom prst="flowChartMagneticDisk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96;p2"/>
          <p:cNvCxnSpPr>
            <a:stCxn id="94" idx="3"/>
            <a:endCxn id="97" idx="2"/>
          </p:cNvCxnSpPr>
          <p:nvPr/>
        </p:nvCxnSpPr>
        <p:spPr>
          <a:xfrm rot="10800000" flipH="1">
            <a:off x="2906071" y="3073982"/>
            <a:ext cx="2690700" cy="2517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8" name="Google Shape;98;p2"/>
          <p:cNvSpPr/>
          <p:nvPr/>
        </p:nvSpPr>
        <p:spPr>
          <a:xfrm>
            <a:off x="3543563" y="4146476"/>
            <a:ext cx="1776448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①A端末精算後の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BusinessCounter値</a:t>
            </a:r>
            <a:endParaRPr/>
          </a:p>
        </p:txBody>
      </p:sp>
      <p:cxnSp>
        <p:nvCxnSpPr>
          <p:cNvPr id="99" name="Google Shape;99;p2"/>
          <p:cNvCxnSpPr>
            <a:stCxn id="92" idx="3"/>
            <a:endCxn id="100" idx="1"/>
          </p:cNvCxnSpPr>
          <p:nvPr/>
        </p:nvCxnSpPr>
        <p:spPr>
          <a:xfrm rot="10800000" flipH="1">
            <a:off x="2625170" y="1288759"/>
            <a:ext cx="3670200" cy="1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1" name="Google Shape;101;p2"/>
          <p:cNvSpPr/>
          <p:nvPr/>
        </p:nvSpPr>
        <p:spPr>
          <a:xfrm>
            <a:off x="2885825" y="786861"/>
            <a:ext cx="131157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②-1 対象店舗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一括配信起動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449880" y="2506400"/>
            <a:ext cx="972152" cy="501494"/>
          </a:xfrm>
          <a:prstGeom prst="flowChartDocument">
            <a:avLst/>
          </a:prstGeom>
          <a:solidFill>
            <a:srgbClr val="00B05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Business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Counter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6295316" y="920077"/>
            <a:ext cx="1415687" cy="73726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バッチ処理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8014405" y="986886"/>
            <a:ext cx="2101747" cy="166006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BLOB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8772715" y="2037638"/>
            <a:ext cx="972152" cy="501494"/>
          </a:xfrm>
          <a:prstGeom prst="flowChartDocumen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Business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Counter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8392324" y="4994092"/>
            <a:ext cx="1741135" cy="99903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POSシステム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p2"/>
          <p:cNvCxnSpPr>
            <a:stCxn id="105" idx="0"/>
            <a:endCxn id="104" idx="2"/>
          </p:cNvCxnSpPr>
          <p:nvPr/>
        </p:nvCxnSpPr>
        <p:spPr>
          <a:xfrm rot="10800000">
            <a:off x="9258692" y="2505892"/>
            <a:ext cx="4200" cy="248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" name="Google Shape;107;p2"/>
          <p:cNvSpPr/>
          <p:nvPr/>
        </p:nvSpPr>
        <p:spPr>
          <a:xfrm>
            <a:off x="7143563" y="1924100"/>
            <a:ext cx="162095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②-2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配信ファイル作成</a:t>
            </a:r>
            <a:endParaRPr/>
          </a:p>
        </p:txBody>
      </p:sp>
      <p:cxnSp>
        <p:nvCxnSpPr>
          <p:cNvPr id="108" name="Google Shape;108;p2"/>
          <p:cNvCxnSpPr>
            <a:stCxn id="95" idx="4"/>
            <a:endCxn id="104" idx="1"/>
          </p:cNvCxnSpPr>
          <p:nvPr/>
        </p:nvCxnSpPr>
        <p:spPr>
          <a:xfrm rot="10800000" flipH="1">
            <a:off x="7711003" y="2288381"/>
            <a:ext cx="1061700" cy="234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9" name="Google Shape;109;p2"/>
          <p:cNvSpPr/>
          <p:nvPr/>
        </p:nvSpPr>
        <p:spPr>
          <a:xfrm>
            <a:off x="7736394" y="6009066"/>
            <a:ext cx="315022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③ POSシステム(CESettingTool.exe)</a:t>
            </a:r>
            <a:b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A端末と同じレジ番号設定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212201" y="201451"/>
            <a:ext cx="8771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＞現状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5200543" y="2690960"/>
            <a:ext cx="792537" cy="38298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API①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2"/>
          <p:cNvCxnSpPr>
            <a:stCxn id="97" idx="3"/>
            <a:endCxn id="102" idx="1"/>
          </p:cNvCxnSpPr>
          <p:nvPr/>
        </p:nvCxnSpPr>
        <p:spPr>
          <a:xfrm rot="10800000" flipH="1">
            <a:off x="5993080" y="2757054"/>
            <a:ext cx="456900" cy="125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2" name="Google Shape;112;p2"/>
          <p:cNvSpPr/>
          <p:nvPr/>
        </p:nvSpPr>
        <p:spPr>
          <a:xfrm>
            <a:off x="7659587" y="3414252"/>
            <a:ext cx="3110146" cy="7386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④ POSシステム(Launcher.exe)起動</a:t>
            </a:r>
            <a:b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配信ファイルを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ローカルへ取得と反映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167208" y="1915965"/>
            <a:ext cx="1921163" cy="140895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①A端末（レジ番号：Y）精算完了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・POS4U.exe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2214589" y="1924951"/>
            <a:ext cx="1921163" cy="140895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②DB一括配信実行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・運用監視ツール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・Azure上のバッチ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4261970" y="1915966"/>
            <a:ext cx="1921163" cy="140895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③B端末の初期設定（レジ番号をYとして設定）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CESettingTool.exe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2214589" y="4697928"/>
            <a:ext cx="1921163" cy="140895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④B端末でPOS起動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Launcher.exe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3"/>
          <p:cNvCxnSpPr>
            <a:stCxn id="117" idx="2"/>
            <a:endCxn id="120" idx="0"/>
          </p:cNvCxnSpPr>
          <p:nvPr/>
        </p:nvCxnSpPr>
        <p:spPr>
          <a:xfrm rot="-5400000" flipH="1">
            <a:off x="1464990" y="2987722"/>
            <a:ext cx="1373100" cy="2047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2" name="Google Shape;122;p3"/>
          <p:cNvCxnSpPr>
            <a:stCxn id="118" idx="2"/>
            <a:endCxn id="120" idx="0"/>
          </p:cNvCxnSpPr>
          <p:nvPr/>
        </p:nvCxnSpPr>
        <p:spPr>
          <a:xfrm rot="-5400000" flipH="1">
            <a:off x="2493421" y="4015658"/>
            <a:ext cx="13641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3" name="Google Shape;123;p3"/>
          <p:cNvCxnSpPr>
            <a:stCxn id="119" idx="2"/>
            <a:endCxn id="120" idx="0"/>
          </p:cNvCxnSpPr>
          <p:nvPr/>
        </p:nvCxnSpPr>
        <p:spPr>
          <a:xfrm rot="5400000">
            <a:off x="3512252" y="2987722"/>
            <a:ext cx="1373100" cy="2047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4" name="Google Shape;124;p3"/>
          <p:cNvSpPr/>
          <p:nvPr/>
        </p:nvSpPr>
        <p:spPr>
          <a:xfrm>
            <a:off x="212201" y="201451"/>
            <a:ext cx="1569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＞問題の理解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6309351" y="975280"/>
            <a:ext cx="5559294" cy="3293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問題点：</a:t>
            </a: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通常流れとして、①→②→③→④という順番で実行されると期待していますが、①と②の完了順番が逆になったときに、B端末のBusinessCounterが正しく更新できない問題発生可能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＞あるべき（正しい値）：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・切替元端末(A端末)の精算後のBusinessCounter値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＞問題発生時：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・切替元端末(A端末)の前回精算後のBusinessCounter値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または０からのBusinessCounter値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167208" y="1915965"/>
            <a:ext cx="1921163" cy="140895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①A端末（レジ番号：Y）精算完了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・POS4U.exe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2214589" y="1924951"/>
            <a:ext cx="1921163" cy="140895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②DB一括配信実行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・運用監視ツール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・Azure上のバッチ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261970" y="1915966"/>
            <a:ext cx="1921163" cy="140895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③B端末の初期設定（レジ番号をYとして設定）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CESettingTool.exe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2214589" y="4697928"/>
            <a:ext cx="1921163" cy="140895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④B端末でPOS起動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Launcher.exe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" name="Google Shape;134;p4"/>
          <p:cNvCxnSpPr>
            <a:stCxn id="130" idx="2"/>
            <a:endCxn id="133" idx="0"/>
          </p:cNvCxnSpPr>
          <p:nvPr/>
        </p:nvCxnSpPr>
        <p:spPr>
          <a:xfrm rot="-5400000" flipH="1">
            <a:off x="1464990" y="2987722"/>
            <a:ext cx="1373100" cy="2047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5" name="Google Shape;135;p4"/>
          <p:cNvCxnSpPr>
            <a:stCxn id="131" idx="2"/>
            <a:endCxn id="133" idx="0"/>
          </p:cNvCxnSpPr>
          <p:nvPr/>
        </p:nvCxnSpPr>
        <p:spPr>
          <a:xfrm rot="-5400000" flipH="1">
            <a:off x="2493421" y="4015658"/>
            <a:ext cx="13641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6" name="Google Shape;136;p4"/>
          <p:cNvCxnSpPr>
            <a:stCxn id="132" idx="2"/>
            <a:endCxn id="133" idx="0"/>
          </p:cNvCxnSpPr>
          <p:nvPr/>
        </p:nvCxnSpPr>
        <p:spPr>
          <a:xfrm rot="5400000">
            <a:off x="3512252" y="2987722"/>
            <a:ext cx="1373100" cy="2047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7" name="Google Shape;137;p4"/>
          <p:cNvSpPr/>
          <p:nvPr/>
        </p:nvSpPr>
        <p:spPr>
          <a:xfrm>
            <a:off x="212201" y="201451"/>
            <a:ext cx="31854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＞問題の分析・対策の考え方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6309351" y="975280"/>
            <a:ext cx="5559294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分析：</a:t>
            </a: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要点１）</a:t>
            </a:r>
            <a:endParaRPr sz="16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①と②は別々の仕組みですから、実行の制御をつけることは難しい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要点２）</a:t>
            </a:r>
            <a:endParaRPr sz="16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運用側コントロールでミス発生の可能性もある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251396" y="3443468"/>
            <a:ext cx="5559294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対策：</a:t>
            </a: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案１）プログラマ改修</a:t>
            </a:r>
            <a:endParaRPr sz="16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④B端末でLauncher.exe起動時のBusinessCounterデータは、一括配信ファイルから取得することではなく、AzureAPIでAzureDBデータを取得する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b="1" strike="sng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案２）運用</a:t>
            </a:r>
            <a:endParaRPr sz="1600" b="1" strike="sng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strike="sng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①→②→③→④という順番で実行</a:t>
            </a:r>
            <a:endParaRPr sz="1600" strike="sng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/>
          <p:nvPr/>
        </p:nvSpPr>
        <p:spPr>
          <a:xfrm>
            <a:off x="903266" y="4367894"/>
            <a:ext cx="2264477" cy="225763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A端末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7778671" y="4380733"/>
            <a:ext cx="3029209" cy="208103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B端末</a:t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704007" y="810514"/>
            <a:ext cx="1921163" cy="98829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運用監視ツール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045199" y="504206"/>
            <a:ext cx="5331608" cy="272068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Azure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1164936" y="5091764"/>
            <a:ext cx="1741135" cy="99903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POSシステム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188918" y="1860209"/>
            <a:ext cx="1522085" cy="1325543"/>
          </a:xfrm>
          <a:prstGeom prst="flowChartMagneticDisk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p5"/>
          <p:cNvCxnSpPr>
            <a:stCxn id="148" idx="3"/>
            <a:endCxn id="151" idx="2"/>
          </p:cNvCxnSpPr>
          <p:nvPr/>
        </p:nvCxnSpPr>
        <p:spPr>
          <a:xfrm rot="10800000" flipH="1">
            <a:off x="2906071" y="3073982"/>
            <a:ext cx="2690700" cy="2517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2" name="Google Shape;152;p5"/>
          <p:cNvSpPr/>
          <p:nvPr/>
        </p:nvSpPr>
        <p:spPr>
          <a:xfrm>
            <a:off x="3543563" y="4146476"/>
            <a:ext cx="177644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①A端末精算後の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BusinessCounter値</a:t>
            </a:r>
            <a:endParaRPr/>
          </a:p>
        </p:txBody>
      </p:sp>
      <p:cxnSp>
        <p:nvCxnSpPr>
          <p:cNvPr id="153" name="Google Shape;153;p5"/>
          <p:cNvCxnSpPr>
            <a:stCxn id="146" idx="3"/>
            <a:endCxn id="154" idx="1"/>
          </p:cNvCxnSpPr>
          <p:nvPr/>
        </p:nvCxnSpPr>
        <p:spPr>
          <a:xfrm rot="10800000" flipH="1">
            <a:off x="2625170" y="1288759"/>
            <a:ext cx="3670200" cy="1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5" name="Google Shape;155;p5"/>
          <p:cNvSpPr/>
          <p:nvPr/>
        </p:nvSpPr>
        <p:spPr>
          <a:xfrm>
            <a:off x="2885825" y="786861"/>
            <a:ext cx="131157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②-1 対象店舗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一括配信起動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449880" y="2506400"/>
            <a:ext cx="972152" cy="501494"/>
          </a:xfrm>
          <a:prstGeom prst="flowChartDocument">
            <a:avLst/>
          </a:prstGeom>
          <a:solidFill>
            <a:srgbClr val="00B05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Business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Counter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6295316" y="920077"/>
            <a:ext cx="1415687" cy="73726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バッチ処理</a:t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8014405" y="986886"/>
            <a:ext cx="2101747" cy="166006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BLOB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8493950" y="1753793"/>
            <a:ext cx="972152" cy="501494"/>
          </a:xfrm>
          <a:prstGeom prst="flowChartDocument">
            <a:avLst/>
          </a:pr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Business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Counter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8601874" y="4994092"/>
            <a:ext cx="1741135" cy="99903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POSシステム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p5"/>
          <p:cNvCxnSpPr>
            <a:stCxn id="159" idx="0"/>
            <a:endCxn id="161" idx="2"/>
          </p:cNvCxnSpPr>
          <p:nvPr/>
        </p:nvCxnSpPr>
        <p:spPr>
          <a:xfrm rot="10800000">
            <a:off x="9448142" y="2613292"/>
            <a:ext cx="24300" cy="2380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62" name="Google Shape;162;p5"/>
          <p:cNvSpPr/>
          <p:nvPr/>
        </p:nvSpPr>
        <p:spPr>
          <a:xfrm>
            <a:off x="6954968" y="1641525"/>
            <a:ext cx="162095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②-2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配信ファイル作成</a:t>
            </a:r>
            <a:endParaRPr/>
          </a:p>
        </p:txBody>
      </p:sp>
      <p:cxnSp>
        <p:nvCxnSpPr>
          <p:cNvPr id="163" name="Google Shape;163;p5"/>
          <p:cNvCxnSpPr>
            <a:stCxn id="149" idx="4"/>
            <a:endCxn id="158" idx="1"/>
          </p:cNvCxnSpPr>
          <p:nvPr/>
        </p:nvCxnSpPr>
        <p:spPr>
          <a:xfrm rot="10800000" flipH="1">
            <a:off x="7711003" y="2004581"/>
            <a:ext cx="783000" cy="518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164" name="Google Shape;164;p5"/>
          <p:cNvSpPr/>
          <p:nvPr/>
        </p:nvSpPr>
        <p:spPr>
          <a:xfrm>
            <a:off x="7736394" y="6009066"/>
            <a:ext cx="315022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③ POSシステム(CESettingTool.exe)</a:t>
            </a:r>
            <a:b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A端末と同じレジ番号設定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212200" y="201450"/>
            <a:ext cx="3150300" cy="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＞案1）プログラマ改修案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200543" y="2690960"/>
            <a:ext cx="792537" cy="38298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API①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5"/>
          <p:cNvCxnSpPr>
            <a:stCxn id="151" idx="3"/>
            <a:endCxn id="156" idx="1"/>
          </p:cNvCxnSpPr>
          <p:nvPr/>
        </p:nvCxnSpPr>
        <p:spPr>
          <a:xfrm rot="10800000" flipH="1">
            <a:off x="5993080" y="2757054"/>
            <a:ext cx="456900" cy="125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67" name="Google Shape;167;p5"/>
          <p:cNvSpPr/>
          <p:nvPr/>
        </p:nvSpPr>
        <p:spPr>
          <a:xfrm>
            <a:off x="8764270" y="3358515"/>
            <a:ext cx="2366645" cy="6451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④-2 マスタ同期は配信ファイルをローカルへ取得と反映(BusinessCounter以外)</a:t>
            </a:r>
            <a:endParaRPr/>
          </a:p>
        </p:txBody>
      </p:sp>
      <p:cxnSp>
        <p:nvCxnSpPr>
          <p:cNvPr id="168" name="Google Shape;168;p5"/>
          <p:cNvCxnSpPr>
            <a:endCxn id="156" idx="2"/>
          </p:cNvCxnSpPr>
          <p:nvPr/>
        </p:nvCxnSpPr>
        <p:spPr>
          <a:xfrm rot="10800000">
            <a:off x="6935956" y="2974740"/>
            <a:ext cx="1637100" cy="20193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69" name="Google Shape;169;p5"/>
          <p:cNvSpPr/>
          <p:nvPr/>
        </p:nvSpPr>
        <p:spPr>
          <a:xfrm>
            <a:off x="7139305" y="2974975"/>
            <a:ext cx="947420" cy="3302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rgbClr val="FF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ⅱ)新規API</a:t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6111875" y="3358515"/>
            <a:ext cx="2729230" cy="6711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④ POSシステム(Launcher.exe)起動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④-１　</a:t>
            </a:r>
            <a:r>
              <a:rPr lang="ja-JP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ⅲ)新規APIでBusinessCounterをローカルへ取得と反映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8961945" y="2144953"/>
            <a:ext cx="972152" cy="501494"/>
          </a:xfrm>
          <a:prstGeom prst="flowChartDocumen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7654290" y="2322830"/>
            <a:ext cx="918845" cy="3302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ⅰ) </a:t>
            </a:r>
            <a:r>
              <a:rPr lang="ja-JP" sz="1000">
                <a:solidFill>
                  <a:srgbClr val="FF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除外処理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/>
          <p:nvPr/>
        </p:nvSpPr>
        <p:spPr>
          <a:xfrm>
            <a:off x="903266" y="4367894"/>
            <a:ext cx="2264477" cy="225763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A端末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8464471" y="4380733"/>
            <a:ext cx="3029209" cy="208103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B端末</a:t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692433" y="708616"/>
            <a:ext cx="1921163" cy="98829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運用監視ツール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5033625" y="459458"/>
            <a:ext cx="5331608" cy="272068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Azure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164936" y="5091764"/>
            <a:ext cx="1741135" cy="99903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POSシステム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177344" y="1815461"/>
            <a:ext cx="1522085" cy="1325543"/>
          </a:xfrm>
          <a:prstGeom prst="flowChartMagneticDisk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6"/>
          <p:cNvCxnSpPr>
            <a:stCxn id="180" idx="3"/>
          </p:cNvCxnSpPr>
          <p:nvPr/>
        </p:nvCxnSpPr>
        <p:spPr>
          <a:xfrm rot="10800000" flipH="1">
            <a:off x="2906071" y="3073982"/>
            <a:ext cx="2612100" cy="2517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3" name="Google Shape;183;p6"/>
          <p:cNvSpPr/>
          <p:nvPr/>
        </p:nvSpPr>
        <p:spPr>
          <a:xfrm>
            <a:off x="3543563" y="4146476"/>
            <a:ext cx="177644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①A端末精算後の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BusinessCounter値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6"/>
          <p:cNvCxnSpPr>
            <a:stCxn id="178" idx="3"/>
            <a:endCxn id="185" idx="1"/>
          </p:cNvCxnSpPr>
          <p:nvPr/>
        </p:nvCxnSpPr>
        <p:spPr>
          <a:xfrm>
            <a:off x="2613596" y="1202761"/>
            <a:ext cx="3670200" cy="6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6" name="Google Shape;186;p6"/>
          <p:cNvSpPr/>
          <p:nvPr/>
        </p:nvSpPr>
        <p:spPr>
          <a:xfrm>
            <a:off x="2874251" y="942138"/>
            <a:ext cx="131157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②-1 対象店舗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一括配信起動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438306" y="2461652"/>
            <a:ext cx="972152" cy="501494"/>
          </a:xfrm>
          <a:prstGeom prst="flowChartDocument">
            <a:avLst/>
          </a:prstGeom>
          <a:solidFill>
            <a:srgbClr val="00B05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Business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Counter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283742" y="840604"/>
            <a:ext cx="1415687" cy="73726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バッチ処理</a:t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8002831" y="942138"/>
            <a:ext cx="2101747" cy="166006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BLOB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9143616" y="4970874"/>
            <a:ext cx="1741135" cy="99903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POSシステム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6"/>
          <p:cNvCxnSpPr>
            <a:endCxn id="191" idx="2"/>
          </p:cNvCxnSpPr>
          <p:nvPr/>
        </p:nvCxnSpPr>
        <p:spPr>
          <a:xfrm rot="10800000">
            <a:off x="8428540" y="3119699"/>
            <a:ext cx="1244100" cy="1338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92" name="Google Shape;192;p6"/>
          <p:cNvSpPr/>
          <p:nvPr/>
        </p:nvSpPr>
        <p:spPr>
          <a:xfrm>
            <a:off x="7167160" y="1856318"/>
            <a:ext cx="162095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②-2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配信ファイル作成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6"/>
          <p:cNvCxnSpPr>
            <a:stCxn id="181" idx="4"/>
          </p:cNvCxnSpPr>
          <p:nvPr/>
        </p:nvCxnSpPr>
        <p:spPr>
          <a:xfrm rot="10800000" flipH="1">
            <a:off x="7699429" y="2243633"/>
            <a:ext cx="1061700" cy="234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94" name="Google Shape;194;p6"/>
          <p:cNvSpPr/>
          <p:nvPr/>
        </p:nvSpPr>
        <p:spPr>
          <a:xfrm>
            <a:off x="9209095" y="3600882"/>
            <a:ext cx="292259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④-2.マスタ同期は配信ファイルを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ローカルへ取得と反映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6"/>
          <p:cNvCxnSpPr/>
          <p:nvPr/>
        </p:nvCxnSpPr>
        <p:spPr>
          <a:xfrm rot="10800000">
            <a:off x="8945217" y="2243637"/>
            <a:ext cx="1068967" cy="221501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96" name="Google Shape;196;p6"/>
          <p:cNvSpPr/>
          <p:nvPr/>
        </p:nvSpPr>
        <p:spPr>
          <a:xfrm>
            <a:off x="6481022" y="3525585"/>
            <a:ext cx="264848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④-1.APIでBusinessCounterを</a:t>
            </a:r>
            <a:endParaRPr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ローカルへ取得と反映</a:t>
            </a:r>
            <a:endParaRPr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212201" y="201451"/>
            <a:ext cx="34932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＞案1）プログラマ改修案(理想)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8441244" y="6009066"/>
            <a:ext cx="315022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③ POSシステム(CESettingTool.exe)</a:t>
            </a:r>
            <a:b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A端末と同じレジ番号設定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8383533" y="6484208"/>
            <a:ext cx="311014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④ POSシステム(Launcher.exe)起動</a:t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8032271" y="2736712"/>
            <a:ext cx="792537" cy="38298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API②</a:t>
            </a:r>
            <a:endParaRPr/>
          </a:p>
        </p:txBody>
      </p:sp>
      <p:cxnSp>
        <p:nvCxnSpPr>
          <p:cNvPr id="200" name="Google Shape;200;p6"/>
          <p:cNvCxnSpPr>
            <a:stCxn id="191" idx="1"/>
            <a:endCxn id="187" idx="3"/>
          </p:cNvCxnSpPr>
          <p:nvPr/>
        </p:nvCxnSpPr>
        <p:spPr>
          <a:xfrm rot="10800000">
            <a:off x="7410371" y="2712506"/>
            <a:ext cx="621900" cy="2157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1" name="Google Shape;201;p6"/>
          <p:cNvSpPr/>
          <p:nvPr/>
        </p:nvSpPr>
        <p:spPr>
          <a:xfrm>
            <a:off x="5200543" y="2690960"/>
            <a:ext cx="792537" cy="38298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API①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6"/>
          <p:cNvCxnSpPr>
            <a:stCxn id="201" idx="3"/>
            <a:endCxn id="187" idx="1"/>
          </p:cNvCxnSpPr>
          <p:nvPr/>
        </p:nvCxnSpPr>
        <p:spPr>
          <a:xfrm rot="10800000" flipH="1">
            <a:off x="5993080" y="2712354"/>
            <a:ext cx="445200" cy="170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"/>
          <p:cNvSpPr/>
          <p:nvPr/>
        </p:nvSpPr>
        <p:spPr>
          <a:xfrm>
            <a:off x="212201" y="201451"/>
            <a:ext cx="295465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＞プログラマ改修点と工数</a:t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300611" y="948074"/>
            <a:ext cx="11590777" cy="2306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改修点：</a:t>
            </a:r>
            <a:endParaRPr sz="1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ⅰ）Azure側DB一括配信対象からBusinessCounterテーブルを除外する</a:t>
            </a: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ⅱ）Azure側BusinessCounter取得APIを新規作成する</a:t>
            </a: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ⅲ）ローカル側SettingWinPOSTerminal.xmlのManageNoが０の場合、</a:t>
            </a: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　　Launcher.exe起動すると、マスタ同期実行時にⅱ）のAPIを呼出して自端末のBusinessCounterを取得し、</a:t>
            </a:r>
            <a:br>
              <a:rPr lang="ja-JP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　　取得結果よりBusinessCounterを更新する</a:t>
            </a: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　　・取得成功、データ有りの場合、ローカルDBのBusinessCounterを挿入／更新する</a:t>
            </a: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　　・取得成功、データ無しの場合、スキップする</a:t>
            </a: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　　・API呼出失敗の場合、マスタ同期画面に「再試行」ボタンを押せる、POSシステムを起動させてしまわないようにする</a:t>
            </a:r>
            <a:endParaRPr dirty="0"/>
          </a:p>
        </p:txBody>
      </p:sp>
      <p:sp>
        <p:nvSpPr>
          <p:cNvPr id="209" name="Google Shape;209;p7"/>
          <p:cNvSpPr/>
          <p:nvPr/>
        </p:nvSpPr>
        <p:spPr>
          <a:xfrm>
            <a:off x="212201" y="4504427"/>
            <a:ext cx="11590777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工数：１０H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lang="ja-JP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・開発							４H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・単体テスト					４H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・</a:t>
            </a:r>
            <a:r>
              <a:rPr lang="ja-JP" sz="1600" b="0" i="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Azureリリース後の検証テスト		２H</a:t>
            </a: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"/>
          <p:cNvSpPr/>
          <p:nvPr/>
        </p:nvSpPr>
        <p:spPr>
          <a:xfrm>
            <a:off x="212201" y="201451"/>
            <a:ext cx="18902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＞ⅲ)詳細実現①</a:t>
            </a:r>
            <a:endParaRPr/>
          </a:p>
        </p:txBody>
      </p:sp>
      <p:pic>
        <p:nvPicPr>
          <p:cNvPr id="215" name="Google Shape;21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0253" y="1945330"/>
            <a:ext cx="4595774" cy="3754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8" descr="グラフィカル ユーザー インターフェイス, テキスト&#10;&#10;自動的に生成された説明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1365" y="1947741"/>
            <a:ext cx="4590476" cy="375238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8"/>
          <p:cNvSpPr/>
          <p:nvPr/>
        </p:nvSpPr>
        <p:spPr>
          <a:xfrm>
            <a:off x="300611" y="670282"/>
            <a:ext cx="1159077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Lanucher起動</a:t>
            </a:r>
            <a:br>
              <a:rPr lang="ja-JP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　Step3 「POSシステムバージョンアップ」 後に 「POS入替DB更新」追加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150735" y="2743200"/>
            <a:ext cx="1145894" cy="31251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6351559" y="989738"/>
            <a:ext cx="4860854" cy="135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ja-JP" sz="129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29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「POS入替DB更新」実行失敗の場合</a:t>
            </a:r>
            <a:endParaRPr sz="129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ja-JP" sz="129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ボタン押せる</a:t>
            </a:r>
            <a:endParaRPr sz="129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ja-JP" sz="129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・再試行</a:t>
            </a:r>
            <a:endParaRPr sz="129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ja-JP" sz="129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・再起動</a:t>
            </a:r>
            <a:endParaRPr sz="129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ja-JP" sz="129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・シャットダウン</a:t>
            </a:r>
            <a:endParaRPr sz="129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82232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95"/>
              <a:buFont typeface="Arial"/>
              <a:buNone/>
            </a:pPr>
            <a:endParaRPr sz="129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9" descr="グラフィカル ユーザー インターフェイス, テキスト&#10;&#10;自動的に生成された説明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7889" y="2421924"/>
            <a:ext cx="4948194" cy="371114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9"/>
          <p:cNvSpPr/>
          <p:nvPr/>
        </p:nvSpPr>
        <p:spPr>
          <a:xfrm>
            <a:off x="947693" y="989738"/>
            <a:ext cx="4860854" cy="135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ja-JP" sz="129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ja-JP" sz="129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「POS入替DB更新」実行成功の場合</a:t>
            </a:r>
            <a:endParaRPr sz="129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ja-JP" sz="129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ボタン押せない、終了</a:t>
            </a:r>
            <a:endParaRPr sz="129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ja-JP" sz="129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・再試行</a:t>
            </a:r>
            <a:endParaRPr sz="129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ja-JP" sz="129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・再起動</a:t>
            </a:r>
            <a:endParaRPr sz="129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ja-JP" sz="129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・シャットダウン</a:t>
            </a:r>
            <a:endParaRPr sz="129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82232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95"/>
              <a:buFont typeface="Arial"/>
              <a:buNone/>
            </a:pPr>
            <a:endParaRPr sz="129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212201" y="201451"/>
            <a:ext cx="18902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＞ⅲ)詳細実現②</a:t>
            </a:r>
            <a:endParaRPr/>
          </a:p>
        </p:txBody>
      </p:sp>
      <p:pic>
        <p:nvPicPr>
          <p:cNvPr id="228" name="Google Shape;228;p9" descr="グラフィカル ユーザー インターフェイス, テキスト&#10;&#10;自動的に生成された説明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8024" y="2432882"/>
            <a:ext cx="4935644" cy="3700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24a0eaa76b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50" y="707728"/>
            <a:ext cx="3307324" cy="2571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24a0eaa76b4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257" y="3840575"/>
            <a:ext cx="3307319" cy="2561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24a0eaa76b4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670" y="711120"/>
            <a:ext cx="3307318" cy="2564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24a0eaa76b4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42096" y="712762"/>
            <a:ext cx="3317933" cy="25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24a0eaa76b4_0_0"/>
          <p:cNvSpPr txBox="1"/>
          <p:nvPr/>
        </p:nvSpPr>
        <p:spPr>
          <a:xfrm>
            <a:off x="231588" y="239250"/>
            <a:ext cx="326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ManageNo！= 0の場合</a:t>
            </a:r>
            <a:endParaRPr/>
          </a:p>
        </p:txBody>
      </p:sp>
      <p:sp>
        <p:nvSpPr>
          <p:cNvPr id="238" name="Google Shape;238;g24a0eaa76b4_0_0"/>
          <p:cNvSpPr txBox="1"/>
          <p:nvPr/>
        </p:nvSpPr>
        <p:spPr>
          <a:xfrm>
            <a:off x="4068300" y="239250"/>
            <a:ext cx="3766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chemeClr val="dk1"/>
                </a:solidFill>
              </a:rPr>
              <a:t>ManageNo== 0、Azure側データ無しの場合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24a0eaa76b4_0_0"/>
          <p:cNvSpPr txBox="1"/>
          <p:nvPr/>
        </p:nvSpPr>
        <p:spPr>
          <a:xfrm>
            <a:off x="7954475" y="239250"/>
            <a:ext cx="423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ManageNo</a:t>
            </a:r>
            <a:r>
              <a:rPr lang="ja-JP">
                <a:solidFill>
                  <a:schemeClr val="dk1"/>
                </a:solidFill>
              </a:rPr>
              <a:t>=</a:t>
            </a:r>
            <a:r>
              <a:rPr lang="ja-JP"/>
              <a:t>= 0、BusinessCounter更新成功の場合</a:t>
            </a:r>
            <a:endParaRPr/>
          </a:p>
        </p:txBody>
      </p:sp>
      <p:sp>
        <p:nvSpPr>
          <p:cNvPr id="240" name="Google Shape;240;g24a0eaa76b4_0_0"/>
          <p:cNvSpPr txBox="1"/>
          <p:nvPr/>
        </p:nvSpPr>
        <p:spPr>
          <a:xfrm>
            <a:off x="231600" y="3440375"/>
            <a:ext cx="383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ManageNo== 0、Azure接続失敗の場合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4a0eaa76b4_0_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3000"/>
              <a:t>BusinessCounterデータAzureにアップロードされなかった</a:t>
            </a:r>
            <a:endParaRPr sz="3000"/>
          </a:p>
        </p:txBody>
      </p:sp>
      <p:sp>
        <p:nvSpPr>
          <p:cNvPr id="246" name="Google Shape;246;g24a0eaa76b4_0_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店舗　　：211 太田由良店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ja-JP"/>
              <a:t>精算日時：2023/05/25 09:31:27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ja-JP"/>
              <a:t>端末番号：3405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POSLogicWebService.svc/PutBusinessCounter/[CompanyCode]/[StoreCode]/[TerminalNo]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 sz="11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Azure側のログを確認しました</a:t>
            </a:r>
            <a:endParaRPr sz="11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 sz="11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211 太田由良店の3405端末、2023/05/25 09:31精算時　BusinessCounterをAzureへアップのAPI履歴がないです。</a:t>
            </a:r>
            <a:endParaRPr sz="11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 sz="11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直前のHW状況送信APIの履歴もないです</a:t>
            </a:r>
            <a:endParaRPr sz="11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 sz="11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精算TransactionLog作成完了後、DBバックアップ処理があって、最終はHW状況送信とBusinessCounterアップロードです。</a:t>
            </a:r>
            <a:endParaRPr sz="1150">
              <a:solidFill>
                <a:srgbClr val="20212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 sz="1150">
                <a:solidFill>
                  <a:srgbClr val="202124"/>
                </a:solidFill>
                <a:latin typeface="Roboto"/>
                <a:ea typeface="Roboto"/>
                <a:cs typeface="Roboto"/>
                <a:sym typeface="Roboto"/>
              </a:rPr>
              <a:t>精算TransactionLog作成完了直後に電源OFFだと思います。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8B4003-C476-C3E7-73F0-7F9EEF40A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問題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7A172F-3284-E0C6-8094-498A523D9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1916"/>
            <a:ext cx="10868526" cy="5000959"/>
          </a:xfrm>
        </p:spPr>
        <p:txBody>
          <a:bodyPr>
            <a:normAutofit/>
          </a:bodyPr>
          <a:lstStyle/>
          <a:p>
            <a:r>
              <a:rPr kumimoji="1" lang="en-US" altLang="ja-JP" dirty="0" err="1"/>
              <a:t>BusinessCounter</a:t>
            </a:r>
            <a:r>
              <a:rPr kumimoji="1" lang="ja-JP" altLang="en-US" dirty="0"/>
              <a:t>アップ失敗の場合、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</a:t>
            </a:r>
            <a:r>
              <a:rPr kumimoji="1" lang="en-US" altLang="ja-JP" dirty="0"/>
              <a:t>Azure</a:t>
            </a:r>
            <a:r>
              <a:rPr kumimoji="1" lang="ja-JP" altLang="en-US" dirty="0"/>
              <a:t>側最新ではない、データ見るともわからない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入替端末は古いデータで</a:t>
            </a:r>
            <a:r>
              <a:rPr kumimoji="1" lang="en-US" altLang="ja-JP" dirty="0"/>
              <a:t>DB</a:t>
            </a:r>
            <a:r>
              <a:rPr kumimoji="1" lang="ja-JP" altLang="en-US" dirty="0"/>
              <a:t>更新させて、基幹へ送信する時レシート</a:t>
            </a:r>
            <a:r>
              <a:rPr kumimoji="1" lang="en-US" altLang="ja-JP" dirty="0"/>
              <a:t>No</a:t>
            </a:r>
            <a:r>
              <a:rPr kumimoji="1" lang="ja-JP" altLang="en-US" dirty="0"/>
              <a:t>重複問題になる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23686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0587FD-EF72-11DE-141B-D71114E1F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対策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D4559EB-08D3-C94C-0FD5-30F21211B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err="1"/>
              <a:t>BusinessCounterAtClose</a:t>
            </a:r>
            <a:r>
              <a:rPr kumimoji="1" lang="ja-JP" altLang="en-US" dirty="0"/>
              <a:t>テーブル新規作成</a:t>
            </a:r>
            <a:endParaRPr kumimoji="1" lang="en-US" altLang="ja-JP" dirty="0"/>
          </a:p>
          <a:p>
            <a:r>
              <a:rPr kumimoji="1" lang="en-US" altLang="ja-JP" dirty="0" err="1"/>
              <a:t>BusinessCounter</a:t>
            </a:r>
            <a:r>
              <a:rPr kumimoji="1" lang="ja-JP" altLang="en-US" dirty="0"/>
              <a:t>アップ失敗の対策</a:t>
            </a:r>
            <a:endParaRPr kumimoji="1" lang="en-US" altLang="ja-JP" dirty="0"/>
          </a:p>
          <a:p>
            <a:r>
              <a:rPr kumimoji="1" lang="ja-JP" altLang="en-US" dirty="0"/>
              <a:t>入替データ更新の対策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87399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5D7264-E19E-D14B-1AE3-37B2533E0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16653" cy="1325563"/>
          </a:xfrm>
        </p:spPr>
        <p:txBody>
          <a:bodyPr>
            <a:normAutofit/>
          </a:bodyPr>
          <a:lstStyle/>
          <a:p>
            <a:r>
              <a:rPr kumimoji="1" lang="en-US" altLang="ja-JP" dirty="0" err="1"/>
              <a:t>BusinessCounterAtClose</a:t>
            </a:r>
            <a:r>
              <a:rPr kumimoji="1" lang="ja-JP" altLang="en-US" dirty="0"/>
              <a:t>テーブル新規作成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1CBB15-864F-F6F7-C1C3-BB6531B37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8" y="1825625"/>
            <a:ext cx="11049001" cy="4351338"/>
          </a:xfrm>
        </p:spPr>
        <p:txBody>
          <a:bodyPr/>
          <a:lstStyle/>
          <a:p>
            <a:r>
              <a:rPr kumimoji="1" lang="en-US" altLang="ja-JP" dirty="0" err="1"/>
              <a:t>BusinessCounter</a:t>
            </a:r>
            <a:r>
              <a:rPr kumimoji="1" lang="ja-JP" altLang="en-US" dirty="0"/>
              <a:t>より、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BusinessDate</a:t>
            </a:r>
            <a:r>
              <a:rPr kumimoji="1" lang="ja-JP" altLang="en-US" dirty="0"/>
              <a:t>、</a:t>
            </a:r>
            <a:r>
              <a:rPr kumimoji="1" lang="en-US" altLang="ja-JP" dirty="0" err="1"/>
              <a:t>LasterUpdateDateTime</a:t>
            </a:r>
            <a:r>
              <a:rPr kumimoji="1" lang="ja-JP" altLang="en-US" dirty="0"/>
              <a:t>追加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613578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C765B1-E86B-7BD0-CD86-15C175336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29031"/>
            <a:ext cx="11073063" cy="1325563"/>
          </a:xfrm>
        </p:spPr>
        <p:txBody>
          <a:bodyPr/>
          <a:lstStyle/>
          <a:p>
            <a:r>
              <a:rPr kumimoji="1" lang="ja-JP" altLang="en-US" dirty="0"/>
              <a:t>精算時</a:t>
            </a:r>
            <a:r>
              <a:rPr kumimoji="1" lang="en-US" altLang="ja-JP" dirty="0" err="1"/>
              <a:t>BusinessCounter</a:t>
            </a:r>
            <a:r>
              <a:rPr kumimoji="1" lang="ja-JP" altLang="en-US" dirty="0"/>
              <a:t>アップ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9FD891-989D-5463-96B3-6E94E9270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11442"/>
            <a:ext cx="5257800" cy="5546558"/>
          </a:xfrm>
        </p:spPr>
        <p:txBody>
          <a:bodyPr>
            <a:normAutofit fontScale="62500" lnSpcReduction="20000"/>
          </a:bodyPr>
          <a:lstStyle/>
          <a:p>
            <a:pPr marL="114300" indent="0">
              <a:buNone/>
            </a:pPr>
            <a:r>
              <a:rPr kumimoji="1" lang="ja-JP" altLang="en-US" dirty="0"/>
              <a:t>精算（現行）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・</a:t>
            </a:r>
            <a:r>
              <a:rPr kumimoji="1" lang="en-US" altLang="ja-JP" dirty="0" err="1"/>
              <a:t>EndTran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・</a:t>
            </a:r>
            <a:r>
              <a:rPr kumimoji="1" lang="en-US" altLang="ja-JP" dirty="0"/>
              <a:t>Batch</a:t>
            </a:r>
          </a:p>
          <a:p>
            <a:pPr marL="114300" indent="0">
              <a:buNone/>
            </a:pPr>
            <a:r>
              <a:rPr kumimoji="1" lang="ja-JP" altLang="en-US" dirty="0"/>
              <a:t>　　→①精算トランザクション集計完了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　→②デビット端末日計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　→③精算レポート印字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　→④</a:t>
            </a:r>
            <a:r>
              <a:rPr kumimoji="1" lang="en-US" altLang="ja-JP" dirty="0"/>
              <a:t>TRAN4U</a:t>
            </a:r>
            <a:r>
              <a:rPr kumimoji="1" lang="ja-JP" altLang="en-US" dirty="0"/>
              <a:t>転送完了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　→⑤</a:t>
            </a:r>
            <a:r>
              <a:rPr kumimoji="1" lang="en-US" altLang="ja-JP" dirty="0"/>
              <a:t>TRAN4U</a:t>
            </a:r>
            <a:r>
              <a:rPr kumimoji="1" lang="ja-JP" altLang="en-US" dirty="0"/>
              <a:t>停止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　→⑥サイクリッククリア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　→⑦ログ削除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　→⑧中間取引削除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　→⑨データベースバックアップと最適化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　→⑩</a:t>
            </a:r>
            <a:r>
              <a:rPr kumimoji="1" lang="en-US" altLang="ja-JP" dirty="0"/>
              <a:t>POSHW</a:t>
            </a:r>
            <a:r>
              <a:rPr kumimoji="1" lang="ja-JP" altLang="en-US" dirty="0"/>
              <a:t>状況送信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　→⑪</a:t>
            </a:r>
            <a:r>
              <a:rPr kumimoji="1" lang="en-US" altLang="ja-JP" dirty="0" err="1"/>
              <a:t>BusinessCounter</a:t>
            </a:r>
            <a:r>
              <a:rPr kumimoji="1" lang="ja-JP" altLang="en-US" dirty="0"/>
              <a:t>アップ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　　・未実行　　⇒　</a:t>
            </a:r>
            <a:r>
              <a:rPr kumimoji="1" lang="en-US" altLang="ja-JP" dirty="0"/>
              <a:t>×</a:t>
            </a:r>
          </a:p>
          <a:p>
            <a:pPr marL="114300" indent="0">
              <a:buNone/>
            </a:pPr>
            <a:r>
              <a:rPr kumimoji="1" lang="ja-JP" altLang="en-US" dirty="0"/>
              <a:t>　　　・実行成功　⇒　〇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　　・実行失敗　⇒　</a:t>
            </a:r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7DEC3F3B-C49A-C058-CAB5-943735ADD8E5}"/>
              </a:ext>
            </a:extLst>
          </p:cNvPr>
          <p:cNvSpPr txBox="1">
            <a:spLocks/>
          </p:cNvSpPr>
          <p:nvPr/>
        </p:nvSpPr>
        <p:spPr>
          <a:xfrm>
            <a:off x="6404810" y="1307431"/>
            <a:ext cx="5787190" cy="5546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kumimoji="1" lang="ja-JP" altLang="en-US" dirty="0"/>
              <a:t>精算（改修後）</a:t>
            </a:r>
            <a:endParaRPr kumimoji="1" lang="en-US" altLang="ja-JP" dirty="0"/>
          </a:p>
          <a:p>
            <a:pPr marL="114300" indent="0">
              <a:buFont typeface="Arial"/>
              <a:buNone/>
            </a:pPr>
            <a:r>
              <a:rPr kumimoji="1" lang="ja-JP" altLang="en-US" dirty="0"/>
              <a:t>　・</a:t>
            </a:r>
            <a:r>
              <a:rPr kumimoji="1" lang="en-US" altLang="ja-JP" dirty="0" err="1"/>
              <a:t>EndTran</a:t>
            </a:r>
            <a:endParaRPr kumimoji="1" lang="en-US" altLang="ja-JP" dirty="0"/>
          </a:p>
          <a:p>
            <a:pPr marL="114300" indent="0">
              <a:buFont typeface="Arial"/>
              <a:buNone/>
            </a:pPr>
            <a:r>
              <a:rPr kumimoji="1" lang="ja-JP" altLang="en-US" dirty="0"/>
              <a:t>　・</a:t>
            </a:r>
            <a:r>
              <a:rPr kumimoji="1" lang="en-US" altLang="ja-JP" dirty="0"/>
              <a:t>Batch</a:t>
            </a:r>
          </a:p>
          <a:p>
            <a:pPr marL="114300" indent="0">
              <a:buFont typeface="Arial"/>
              <a:buNone/>
            </a:pPr>
            <a:r>
              <a:rPr kumimoji="1" lang="ja-JP" altLang="en-US" dirty="0"/>
              <a:t>　　→①精算トランザクション集計完了</a:t>
            </a:r>
            <a:endParaRPr kumimoji="1" lang="en-US" altLang="ja-JP" dirty="0"/>
          </a:p>
          <a:p>
            <a:pPr marL="114300" indent="0">
              <a:buFont typeface="Arial"/>
              <a:buNone/>
            </a:pPr>
            <a:r>
              <a:rPr kumimoji="1" lang="ja-JP" altLang="en-US" dirty="0"/>
              <a:t>　　→②デビット端末日計</a:t>
            </a:r>
            <a:endParaRPr kumimoji="1" lang="en-US" altLang="ja-JP" dirty="0"/>
          </a:p>
          <a:p>
            <a:pPr marL="114300" indent="0">
              <a:buFont typeface="Arial"/>
              <a:buNone/>
            </a:pPr>
            <a:r>
              <a:rPr kumimoji="1" lang="ja-JP" altLang="en-US" dirty="0"/>
              <a:t>　　→③精算レポート印字</a:t>
            </a:r>
            <a:endParaRPr kumimoji="1" lang="en-US" altLang="ja-JP" dirty="0"/>
          </a:p>
          <a:p>
            <a:pPr marL="114300" indent="0">
              <a:buFont typeface="Arial"/>
              <a:buNone/>
            </a:pPr>
            <a:r>
              <a:rPr kumimoji="1" lang="ja-JP" altLang="en-US" dirty="0">
                <a:solidFill>
                  <a:srgbClr val="FF0000"/>
                </a:solidFill>
              </a:rPr>
              <a:t>　　→④</a:t>
            </a:r>
            <a:r>
              <a:rPr kumimoji="1" lang="en-US" altLang="ja-JP" dirty="0" err="1">
                <a:solidFill>
                  <a:srgbClr val="FF0000"/>
                </a:solidFill>
              </a:rPr>
              <a:t>BusinessCounter</a:t>
            </a:r>
            <a:r>
              <a:rPr kumimoji="1" lang="ja-JP" altLang="en-US" dirty="0">
                <a:solidFill>
                  <a:srgbClr val="FF0000"/>
                </a:solidFill>
              </a:rPr>
              <a:t>アップ（自動再実行〇回）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marL="114300" indent="0">
              <a:buFont typeface="Arial"/>
              <a:buNone/>
            </a:pPr>
            <a:r>
              <a:rPr kumimoji="1" lang="ja-JP" altLang="en-US" dirty="0">
                <a:solidFill>
                  <a:srgbClr val="FF0000"/>
                </a:solidFill>
              </a:rPr>
              <a:t>　　　・未実行　　⇒　</a:t>
            </a:r>
            <a:r>
              <a:rPr kumimoji="1" lang="en-US" altLang="ja-JP" dirty="0">
                <a:solidFill>
                  <a:srgbClr val="FF0000"/>
                </a:solidFill>
              </a:rPr>
              <a:t>×</a:t>
            </a:r>
          </a:p>
          <a:p>
            <a:pPr marL="114300" indent="0">
              <a:buFont typeface="Arial"/>
              <a:buNone/>
            </a:pPr>
            <a:r>
              <a:rPr kumimoji="1" lang="ja-JP" altLang="en-US" dirty="0">
                <a:solidFill>
                  <a:srgbClr val="FF0000"/>
                </a:solidFill>
              </a:rPr>
              <a:t>　　　・実行成功　⇒　〇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marL="114300" indent="0">
              <a:buFont typeface="Arial"/>
              <a:buNone/>
            </a:pPr>
            <a:r>
              <a:rPr kumimoji="1" lang="ja-JP" altLang="en-US" dirty="0">
                <a:solidFill>
                  <a:srgbClr val="FF0000"/>
                </a:solidFill>
              </a:rPr>
              <a:t>　　　・実行失敗　⇒　強制続行／リトライ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marL="114300" indent="0">
              <a:buFont typeface="Arial"/>
              <a:buNone/>
            </a:pPr>
            <a:r>
              <a:rPr kumimoji="1" lang="ja-JP" altLang="en-US" dirty="0"/>
              <a:t>　　→⑤</a:t>
            </a:r>
            <a:r>
              <a:rPr kumimoji="1" lang="en-US" altLang="ja-JP" dirty="0"/>
              <a:t>TRAN4U</a:t>
            </a:r>
            <a:r>
              <a:rPr kumimoji="1" lang="ja-JP" altLang="en-US" dirty="0"/>
              <a:t>転送完了</a:t>
            </a:r>
            <a:endParaRPr kumimoji="1" lang="en-US" altLang="ja-JP" dirty="0"/>
          </a:p>
          <a:p>
            <a:pPr marL="114300" indent="0">
              <a:buFont typeface="Arial"/>
              <a:buNone/>
            </a:pPr>
            <a:r>
              <a:rPr kumimoji="1" lang="ja-JP" altLang="en-US" dirty="0"/>
              <a:t>　　→⑥</a:t>
            </a:r>
            <a:r>
              <a:rPr kumimoji="1" lang="en-US" altLang="ja-JP" dirty="0"/>
              <a:t>TRAN4U</a:t>
            </a:r>
            <a:r>
              <a:rPr kumimoji="1" lang="ja-JP" altLang="en-US" dirty="0"/>
              <a:t>停止</a:t>
            </a:r>
            <a:endParaRPr kumimoji="1" lang="en-US" altLang="ja-JP" dirty="0"/>
          </a:p>
          <a:p>
            <a:pPr marL="114300" indent="0">
              <a:buFont typeface="Arial"/>
              <a:buNone/>
            </a:pPr>
            <a:r>
              <a:rPr kumimoji="1" lang="ja-JP" altLang="en-US" dirty="0"/>
              <a:t>　　→⑦サイクリッククリア</a:t>
            </a:r>
            <a:endParaRPr kumimoji="1" lang="en-US" altLang="ja-JP" dirty="0"/>
          </a:p>
          <a:p>
            <a:pPr marL="114300" indent="0">
              <a:buFont typeface="Arial"/>
              <a:buNone/>
            </a:pPr>
            <a:r>
              <a:rPr kumimoji="1" lang="ja-JP" altLang="en-US" dirty="0"/>
              <a:t>　　→⑧ログ削除</a:t>
            </a:r>
            <a:endParaRPr kumimoji="1" lang="en-US" altLang="ja-JP" dirty="0"/>
          </a:p>
          <a:p>
            <a:pPr marL="114300" indent="0">
              <a:buFont typeface="Arial"/>
              <a:buNone/>
            </a:pPr>
            <a:r>
              <a:rPr kumimoji="1" lang="ja-JP" altLang="en-US" dirty="0"/>
              <a:t>　　→⑨中間取引削除</a:t>
            </a:r>
            <a:endParaRPr kumimoji="1" lang="en-US" altLang="ja-JP" dirty="0"/>
          </a:p>
          <a:p>
            <a:pPr marL="114300" indent="0">
              <a:buFont typeface="Arial"/>
              <a:buNone/>
            </a:pPr>
            <a:r>
              <a:rPr kumimoji="1" lang="ja-JP" altLang="en-US" dirty="0"/>
              <a:t>　　→⑩データベースバックアップと最適化</a:t>
            </a:r>
            <a:endParaRPr kumimoji="1" lang="en-US" altLang="ja-JP" dirty="0"/>
          </a:p>
          <a:p>
            <a:pPr marL="114300" indent="0">
              <a:buFont typeface="Arial"/>
              <a:buNone/>
            </a:pPr>
            <a:r>
              <a:rPr kumimoji="1" lang="ja-JP" altLang="en-US" dirty="0"/>
              <a:t>　　→⑪</a:t>
            </a:r>
            <a:r>
              <a:rPr kumimoji="1" lang="en-US" altLang="ja-JP" dirty="0"/>
              <a:t>POSHW</a:t>
            </a:r>
            <a:r>
              <a:rPr kumimoji="1" lang="ja-JP" altLang="en-US" dirty="0"/>
              <a:t>状況送信</a:t>
            </a:r>
          </a:p>
        </p:txBody>
      </p:sp>
    </p:spTree>
    <p:extLst>
      <p:ext uri="{BB962C8B-B14F-4D97-AF65-F5344CB8AC3E}">
        <p14:creationId xmlns:p14="http://schemas.microsoft.com/office/powerpoint/2010/main" val="815058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8B4003-C476-C3E7-73F0-7F9EEF40A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入替データ更新の対策</a:t>
            </a:r>
            <a:endParaRPr kumimoji="1" lang="en-US" altLang="ja-JP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7A172F-3284-E0C6-8094-498A523D9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491916"/>
            <a:ext cx="11145253" cy="5000959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kumimoji="1" lang="en-US" altLang="ja-JP" dirty="0"/>
              <a:t>Azure</a:t>
            </a:r>
            <a:r>
              <a:rPr kumimoji="1" lang="ja-JP" altLang="en-US" dirty="0"/>
              <a:t>から入替データ取得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・①</a:t>
            </a:r>
            <a:r>
              <a:rPr kumimoji="1" lang="en-US" altLang="ja-JP" dirty="0" err="1"/>
              <a:t>BusinessState</a:t>
            </a:r>
            <a:r>
              <a:rPr kumimoji="1" lang="ja-JP" altLang="en-US" dirty="0"/>
              <a:t>の</a:t>
            </a:r>
            <a:r>
              <a:rPr kumimoji="1" lang="en-US" altLang="ja-JP" dirty="0" err="1"/>
              <a:t>BusinessDate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・②</a:t>
            </a:r>
            <a:r>
              <a:rPr kumimoji="1" lang="en-US" altLang="ja-JP" dirty="0" err="1"/>
              <a:t>BusinessCounterAtClose</a:t>
            </a:r>
            <a:r>
              <a:rPr kumimoji="1" lang="ja-JP" altLang="en-US" dirty="0"/>
              <a:t>の</a:t>
            </a:r>
            <a:r>
              <a:rPr kumimoji="1" lang="en-US" altLang="ja-JP" dirty="0" err="1"/>
              <a:t>BusinessDate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・③</a:t>
            </a:r>
            <a:r>
              <a:rPr kumimoji="1" lang="en-US" altLang="ja-JP" dirty="0" err="1"/>
              <a:t>BusinessCounterAtClose</a:t>
            </a:r>
            <a:r>
              <a:rPr kumimoji="1" lang="ja-JP" altLang="en-US" dirty="0"/>
              <a:t>の採番情報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en-US" altLang="ja-JP" dirty="0" err="1"/>
              <a:t>ManageNo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の場合</a:t>
            </a:r>
            <a:endParaRPr kumimoji="1" lang="en-US" altLang="ja-JP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ja-JP" altLang="en-US" dirty="0"/>
              <a:t>　 </a:t>
            </a:r>
            <a:r>
              <a:rPr kumimoji="1" lang="ja-JP" altLang="en-US" sz="2200" dirty="0"/>
              <a:t>・</a:t>
            </a:r>
            <a:r>
              <a:rPr lang="ja-JP" alt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取得成功、データ有りの場合、データの営業日判断追加</a:t>
            </a:r>
            <a:endParaRPr lang="en-US" altLang="ja-JP" sz="2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ja-JP" altLang="en-US" sz="2000" dirty="0">
                <a:solidFill>
                  <a:srgbClr val="000000"/>
                </a:solidFill>
              </a:rPr>
              <a:t>　　　</a:t>
            </a:r>
            <a:r>
              <a:rPr kumimoji="1" lang="ja-JP" altLang="en-US" sz="2000" dirty="0"/>
              <a:t>①＞②：</a:t>
            </a:r>
            <a:r>
              <a:rPr kumimoji="1" lang="en-US" altLang="ja-JP" sz="2000" dirty="0" err="1"/>
              <a:t>BusinessCounterAtClose</a:t>
            </a:r>
            <a:r>
              <a:rPr kumimoji="1" lang="ja-JP" altLang="en-US" sz="2000" dirty="0"/>
              <a:t>のデータは最新ではない、入替更新処理エラーになって、システム管理者に連絡対応、</a:t>
            </a:r>
            <a:r>
              <a:rPr kumimoji="1" lang="en-US" altLang="ja-JP" sz="2000" dirty="0"/>
              <a:t>POS</a:t>
            </a:r>
            <a:r>
              <a:rPr kumimoji="1" lang="ja-JP" altLang="en-US" sz="2000" dirty="0"/>
              <a:t>システムを起動させてしまわないようにする</a:t>
            </a:r>
            <a:endParaRPr kumimoji="1" lang="en-US" altLang="ja-JP" sz="2000" dirty="0"/>
          </a:p>
          <a:p>
            <a:pPr marL="0" indent="0">
              <a:spcBef>
                <a:spcPts val="0"/>
              </a:spcBef>
              <a:buNone/>
            </a:pPr>
            <a:r>
              <a:rPr lang="ja-JP" altLang="en-US" sz="2000" dirty="0">
                <a:solidFill>
                  <a:srgbClr val="000000"/>
                </a:solidFill>
              </a:rPr>
              <a:t>　　　</a:t>
            </a:r>
            <a:r>
              <a:rPr kumimoji="1" lang="ja-JP" altLang="en-US" sz="2000" dirty="0"/>
              <a:t>①＝②：</a:t>
            </a:r>
            <a:r>
              <a:rPr lang="ja-JP" alt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ローカル</a:t>
            </a:r>
            <a:r>
              <a:rPr lang="en-US" altLang="ja-JP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DB</a:t>
            </a:r>
            <a:r>
              <a:rPr lang="ja-JP" alt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の</a:t>
            </a:r>
            <a:r>
              <a:rPr lang="en-US" altLang="ja-JP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BusinessCounter</a:t>
            </a:r>
            <a:r>
              <a:rPr lang="ja-JP" alt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に③を挿入／更新する</a:t>
            </a:r>
            <a:endParaRPr kumimoji="1" lang="en-US" altLang="ja-JP" sz="2000" dirty="0"/>
          </a:p>
          <a:p>
            <a:pPr marL="0" indent="0">
              <a:spcBef>
                <a:spcPts val="0"/>
              </a:spcBef>
              <a:buNone/>
            </a:pPr>
            <a:r>
              <a:rPr kumimoji="1" lang="ja-JP" altLang="en-US" sz="2000" dirty="0"/>
              <a:t>　　　①＜②：</a:t>
            </a:r>
            <a:r>
              <a:rPr kumimoji="1" lang="en-US" altLang="ja-JP" sz="2000" dirty="0"/>
              <a:t>Azure</a:t>
            </a:r>
            <a:r>
              <a:rPr kumimoji="1" lang="ja-JP" altLang="en-US" sz="2000" dirty="0"/>
              <a:t>側</a:t>
            </a:r>
            <a:r>
              <a:rPr kumimoji="1" lang="en-US" altLang="ja-JP" sz="2000" dirty="0" err="1"/>
              <a:t>BusinessState</a:t>
            </a:r>
            <a:r>
              <a:rPr kumimoji="1" lang="ja-JP" altLang="en-US" sz="2000" dirty="0"/>
              <a:t>集計問題、</a:t>
            </a:r>
            <a:r>
              <a:rPr lang="ja-JP" alt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ローカル</a:t>
            </a:r>
            <a:r>
              <a:rPr lang="en-US" altLang="ja-JP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DB</a:t>
            </a:r>
            <a:r>
              <a:rPr lang="ja-JP" alt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の</a:t>
            </a:r>
            <a:r>
              <a:rPr lang="en-US" altLang="ja-JP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BusinessCounter</a:t>
            </a:r>
            <a:r>
              <a:rPr lang="ja-JP" alt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に③を挿入／更新する</a:t>
            </a:r>
            <a:endParaRPr lang="en-US" altLang="ja-JP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kumimoji="1" lang="ja-JP" altLang="en-US" sz="2200" dirty="0"/>
              <a:t> ・</a:t>
            </a:r>
            <a:r>
              <a:rPr lang="ja-JP" alt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取得成功、データ無しの場合、スキップする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　</a:t>
            </a:r>
            <a:r>
              <a:rPr kumimoji="1" lang="ja-JP" altLang="en-US" sz="2200" dirty="0"/>
              <a:t> ・ </a:t>
            </a:r>
            <a:r>
              <a:rPr lang="en-US" altLang="ja-JP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r>
              <a:rPr lang="ja-JP" alt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呼出失敗の場合、マスタ同期画面に「再試行」ボタンを押せる、</a:t>
            </a:r>
            <a:r>
              <a:rPr lang="en-US" altLang="ja-JP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</a:t>
            </a:r>
            <a:r>
              <a:rPr lang="ja-JP" altLang="en-US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システムを起動させてしまわないようにする</a:t>
            </a:r>
            <a:r>
              <a:rPr kumimoji="1" lang="ja-JP" altLang="en-US" sz="2200" dirty="0"/>
              <a:t>　</a:t>
            </a:r>
            <a:endParaRPr kumimoji="1" lang="en-US" altLang="ja-JP" sz="2200" dirty="0"/>
          </a:p>
        </p:txBody>
      </p:sp>
    </p:spTree>
    <p:extLst>
      <p:ext uri="{BB962C8B-B14F-4D97-AF65-F5344CB8AC3E}">
        <p14:creationId xmlns:p14="http://schemas.microsoft.com/office/powerpoint/2010/main" val="4155275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B64426-473B-E140-D33F-3429A07E6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88842" cy="1325563"/>
          </a:xfrm>
        </p:spPr>
        <p:txBody>
          <a:bodyPr/>
          <a:lstStyle/>
          <a:p>
            <a:r>
              <a:rPr kumimoji="1" lang="en-US" altLang="ja-JP" dirty="0" err="1"/>
              <a:t>BusinessCounter</a:t>
            </a:r>
            <a:r>
              <a:rPr kumimoji="1" lang="ja-JP" altLang="en-US" dirty="0"/>
              <a:t>アップ失敗後の更新影響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54B4F49-7797-007C-2290-9B1AFD02A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kumimoji="1" lang="en-US" altLang="ja-JP" dirty="0" err="1"/>
              <a:t>EJournalNo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en-US" altLang="ja-JP" dirty="0" err="1"/>
              <a:t>EJournalSeqNo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en-US" altLang="ja-JP" dirty="0" err="1"/>
              <a:t>ReceiptNo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en-US" altLang="ja-JP" dirty="0" err="1"/>
              <a:t>TransactionNo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en-US" altLang="ja-JP" dirty="0" err="1"/>
              <a:t>OpenCount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en-US" altLang="ja-JP" dirty="0" err="1"/>
              <a:t>PointCardReqId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en-US" altLang="ja-JP" dirty="0" err="1"/>
              <a:t>ValueCardReqId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668764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4EE777-F7D7-3249-EF14-B48B0C023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改修範囲と概算工数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4C11D0E-3187-269F-DE04-BEF9F1BBFC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 dirty="0"/>
              <a:t>改修範囲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</a:t>
            </a:r>
            <a:r>
              <a:rPr kumimoji="1" lang="en-US" altLang="ja-JP" dirty="0"/>
              <a:t>Azure</a:t>
            </a:r>
            <a:r>
              <a:rPr kumimoji="1" lang="ja-JP" altLang="en-US" dirty="0"/>
              <a:t>：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　①新規テーブル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　②ストアド改修</a:t>
            </a:r>
            <a:r>
              <a:rPr kumimoji="1" lang="en-US" altLang="ja-JP" dirty="0"/>
              <a:t>2</a:t>
            </a:r>
            <a:r>
              <a:rPr kumimoji="1" lang="ja-JP" altLang="en-US" dirty="0"/>
              <a:t>本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　③</a:t>
            </a:r>
            <a:r>
              <a:rPr kumimoji="1" lang="en-US" altLang="ja-JP" dirty="0"/>
              <a:t>API</a:t>
            </a:r>
            <a:r>
              <a:rPr kumimoji="1" lang="ja-JP" altLang="en-US" dirty="0"/>
              <a:t>パラメータ改修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</a:t>
            </a:r>
            <a:r>
              <a:rPr kumimoji="1" lang="en-US" altLang="ja-JP" dirty="0"/>
              <a:t>Local</a:t>
            </a:r>
            <a:r>
              <a:rPr kumimoji="1" lang="ja-JP" altLang="en-US" dirty="0"/>
              <a:t>：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　①バッチ実行順番</a:t>
            </a:r>
            <a:endParaRPr kumimoji="1" lang="en-US" altLang="ja-JP" dirty="0"/>
          </a:p>
          <a:p>
            <a:pPr marL="114300" indent="0">
              <a:buNone/>
            </a:pPr>
            <a:r>
              <a:rPr kumimoji="1" lang="ja-JP" altLang="en-US" dirty="0"/>
              <a:t>　　②</a:t>
            </a:r>
            <a:r>
              <a:rPr kumimoji="1" lang="en-US" altLang="ja-JP" dirty="0">
                <a:solidFill>
                  <a:srgbClr val="FF0000"/>
                </a:solidFill>
              </a:rPr>
              <a:t> </a:t>
            </a:r>
            <a:r>
              <a:rPr kumimoji="1" lang="en-US" altLang="ja-JP" dirty="0" err="1">
                <a:solidFill>
                  <a:schemeClr val="tx1"/>
                </a:solidFill>
              </a:rPr>
              <a:t>BusinessCounter</a:t>
            </a:r>
            <a:r>
              <a:rPr kumimoji="1" lang="ja-JP" altLang="en-US" dirty="0">
                <a:solidFill>
                  <a:schemeClr val="tx1"/>
                </a:solidFill>
              </a:rPr>
              <a:t>アップ失敗の処理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kumimoji="1" lang="ja-JP" altLang="en-US" dirty="0">
                <a:solidFill>
                  <a:schemeClr val="tx1"/>
                </a:solidFill>
              </a:rPr>
              <a:t>　　③入替</a:t>
            </a:r>
            <a:r>
              <a:rPr kumimoji="1" lang="en-US" altLang="ja-JP" dirty="0">
                <a:solidFill>
                  <a:schemeClr val="tx1"/>
                </a:solidFill>
              </a:rPr>
              <a:t>DB</a:t>
            </a:r>
            <a:r>
              <a:rPr kumimoji="1" lang="ja-JP" altLang="en-US" dirty="0">
                <a:solidFill>
                  <a:schemeClr val="tx1"/>
                </a:solidFill>
              </a:rPr>
              <a:t>更新処理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 dirty="0"/>
              <a:t>概算工数</a:t>
            </a:r>
          </a:p>
        </p:txBody>
      </p:sp>
    </p:spTree>
    <p:extLst>
      <p:ext uri="{BB962C8B-B14F-4D97-AF65-F5344CB8AC3E}">
        <p14:creationId xmlns:p14="http://schemas.microsoft.com/office/powerpoint/2010/main" val="2031426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1491</Words>
  <Application>Microsoft Office PowerPoint</Application>
  <PresentationFormat>ワイド画面</PresentationFormat>
  <Paragraphs>240</Paragraphs>
  <Slides>18</Slides>
  <Notes>11</Notes>
  <HiddenSlides>2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2" baseType="lpstr">
      <vt:lpstr>Microsoft Yahei</vt:lpstr>
      <vt:lpstr>Arial</vt:lpstr>
      <vt:lpstr>Roboto</vt:lpstr>
      <vt:lpstr>Office テーマ</vt:lpstr>
      <vt:lpstr>端末入替BusinessCounter同期問題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BusinessCounterデータAzureにアップロードされなかった</vt:lpstr>
      <vt:lpstr>問題</vt:lpstr>
      <vt:lpstr>対策</vt:lpstr>
      <vt:lpstr>BusinessCounterAtCloseテーブル新規作成</vt:lpstr>
      <vt:lpstr>精算時BusinessCounterアップ</vt:lpstr>
      <vt:lpstr>入替データ更新の対策</vt:lpstr>
      <vt:lpstr>BusinessCounterアップ失敗後の更新影響</vt:lpstr>
      <vt:lpstr>改修範囲と概算工数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端末入替BusinessCounter同期問題</dc:title>
  <dc:creator>季念祥</dc:creator>
  <cp:lastModifiedBy>石 朋</cp:lastModifiedBy>
  <cp:revision>2</cp:revision>
  <dcterms:created xsi:type="dcterms:W3CDTF">2023-05-23T00:29:02Z</dcterms:created>
  <dcterms:modified xsi:type="dcterms:W3CDTF">2023-06-27T01:52:03Z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56EDD03CD6B44D14A6221ABDAECEADE4_13</vt:lpwstr>
  </property>
  <property fmtid="{D5CDD505-2E9C-101B-9397-08002B2CF9AE}" pid="3" name="KSOProductBuildVer">
    <vt:lpwstr>2052-0.0.0.0</vt:lpwstr>
  </property>
</Properties>
</file>