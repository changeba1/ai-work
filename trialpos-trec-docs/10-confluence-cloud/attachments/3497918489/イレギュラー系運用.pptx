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216b17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216b17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c216b17d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c216b17d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216b17d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216b17d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c216b17d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c216b17d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c216b17d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c216b17d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c216b17d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c216b17d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216b17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c216b17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216b17d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c216b17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c216b17d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c216b17d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c216b17d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c216b17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c216b17d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c216b17d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c216b17d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c216b17d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c216b17d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c216b17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c216b17de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c216b17d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c216b17d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c216b17d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イレギュラー系運用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支払い時のイレギュラー系運用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目的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支払い時にイレギュラー系が発生された際の運用方法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支払い時の運用方法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１，セルフ概設機側で支払いエラー発生時の運用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２，店内POS側で支払いエラー発生時の運用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50" y="1005175"/>
            <a:ext cx="3582450" cy="257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4650" y="870025"/>
            <a:ext cx="2285900" cy="31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5100" y="846025"/>
            <a:ext cx="2285900" cy="321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3751950" y="2056375"/>
            <a:ext cx="412800" cy="30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476425" y="2143738"/>
            <a:ext cx="412800" cy="30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セルフ外設機側で支払い時にエラー発生の場合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224578" y="2175539"/>
            <a:ext cx="2139300" cy="50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23200" y="4086175"/>
            <a:ext cx="79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「エラーコード：2006 　エラー内容：支払い結果不明」、利用履歴の確認を行う必要。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１，売上</a:t>
            </a:r>
            <a:br>
              <a:rPr lang="ja"/>
            </a:br>
            <a:r>
              <a:rPr lang="ja"/>
              <a:t>→登録されてない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２，電子マネー</a:t>
            </a:r>
            <a:br>
              <a:rPr lang="ja"/>
            </a:br>
            <a:r>
              <a:rPr lang="ja"/>
              <a:t>①引き去りされた</a:t>
            </a:r>
            <a:br>
              <a:rPr lang="ja"/>
            </a:br>
            <a:r>
              <a:rPr lang="ja"/>
              <a:t>②引き去りされてない</a:t>
            </a:r>
            <a:br>
              <a:rPr lang="ja"/>
            </a:br>
            <a:r>
              <a:rPr lang="ja"/>
              <a:t>③引き去り結果不明</a:t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セルフ外設機側で支払い時にエラー発生の場合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209900" y="1279750"/>
            <a:ext cx="359100" cy="2069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917350" y="2166675"/>
            <a:ext cx="524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売上登録が必要、電子マネーは引き去り結果によって、対応方法が違う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650" y="255875"/>
            <a:ext cx="2578150" cy="357292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592000" y="1215025"/>
            <a:ext cx="5987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</a:t>
            </a:r>
            <a:r>
              <a:rPr lang="ja" sz="1800">
                <a:solidFill>
                  <a:schemeClr val="dk2"/>
                </a:solidFill>
              </a:rPr>
              <a:t>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直近電子マネー利用履歴の金額とプリカ利用金額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は同じ且つ直近の利用時間の場合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②</a:t>
            </a:r>
            <a:r>
              <a:rPr lang="ja" sz="1800">
                <a:solidFill>
                  <a:schemeClr val="dk2"/>
                </a:solidFill>
              </a:rPr>
              <a:t>引去結果：</a:t>
            </a:r>
            <a:r>
              <a:rPr b="1" lang="ja" sz="1800">
                <a:solidFill>
                  <a:schemeClr val="dk2"/>
                </a:solidFill>
              </a:rPr>
              <a:t>引き去りされた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③</a:t>
            </a:r>
            <a:r>
              <a:rPr lang="ja" sz="1800">
                <a:solidFill>
                  <a:schemeClr val="dk2"/>
                </a:solidFill>
              </a:rPr>
              <a:t>発生原因：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・電子マネーサーバと通信に異常が発生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（要求は電子マネーサーバに届いたが、戻ってない）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7088400" y="1447025"/>
            <a:ext cx="7278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7816250" y="2584225"/>
            <a:ext cx="1086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外設機_</a:t>
            </a:r>
            <a:r>
              <a:rPr lang="ja"/>
              <a:t>引き去りされた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75" y="2571763"/>
            <a:ext cx="2694513" cy="23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3800" y="2508025"/>
            <a:ext cx="1847731" cy="25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5725775" y="4165275"/>
            <a:ext cx="1465500" cy="737100"/>
          </a:xfrm>
          <a:prstGeom prst="wedgeRectCallout">
            <a:avLst>
              <a:gd fmla="val -84374" name="adj1"/>
              <a:gd fmla="val -10793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掛売ボタンを事前クリック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92000" y="986425"/>
            <a:ext cx="5987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</a:t>
            </a:r>
            <a:r>
              <a:rPr lang="ja" sz="1800">
                <a:solidFill>
                  <a:schemeClr val="dk2"/>
                </a:solidFill>
              </a:rPr>
              <a:t>売上登録方法：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保留決済を実行する前に、顔認証端末の「</a:t>
            </a:r>
            <a:r>
              <a:rPr lang="ja" sz="1800">
                <a:solidFill>
                  <a:schemeClr val="dk2"/>
                </a:solidFill>
              </a:rPr>
              <a:t>掛売</a:t>
            </a:r>
            <a:r>
              <a:rPr lang="ja" sz="1800">
                <a:solidFill>
                  <a:schemeClr val="dk2"/>
                </a:solidFill>
              </a:rPr>
              <a:t>登録」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ボタンを事前にクリックする。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→売上のみ登録し、電子マネーの引き去りは行わない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外設機_</a:t>
            </a:r>
            <a:r>
              <a:rPr lang="ja"/>
              <a:t>引き去りされた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150" y="242275"/>
            <a:ext cx="2614650" cy="3634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外設機_引き去りされてない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592000" y="1215025"/>
            <a:ext cx="5987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直近電子マネー利用履歴の金額とプリカ利用金額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同じではない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②引去結果：されてない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③発生原因：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・電子マネーサーバと通信に異常発生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（要求は電子マネーサーバに届いてない）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・クラウドPOSサーバ</a:t>
            </a:r>
            <a:r>
              <a:rPr lang="ja" sz="1800">
                <a:solidFill>
                  <a:schemeClr val="dk2"/>
                </a:solidFill>
              </a:rPr>
              <a:t>と通信に異常発生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088400" y="1447025"/>
            <a:ext cx="7278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7816250" y="2584225"/>
            <a:ext cx="1086900" cy="23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ja"/>
              <a:t>外設機_引き去りされてない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592000" y="986425"/>
            <a:ext cx="819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④売上登録方法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顔認証端末は「通常登録」モードで売上登録を行う（デフォルトのまま）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800">
                <a:solidFill>
                  <a:schemeClr val="dk2"/>
                </a:solidFill>
              </a:rPr>
              <a:t>→売上を登録し、電子マネーを引き去りされる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75" y="2244652"/>
            <a:ext cx="3189636" cy="27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575" y="2225250"/>
            <a:ext cx="2004200" cy="27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475525" y="1904075"/>
            <a:ext cx="55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店内POS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532100" y="1904075"/>
            <a:ext cx="27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顔認証端末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799" y="0"/>
            <a:ext cx="2864200" cy="402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311700" y="1181000"/>
            <a:ext cx="5987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数回「電子マネー利用履歴」で照会しても、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失敗のメッセージのまま：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800">
                <a:solidFill>
                  <a:schemeClr val="dk2"/>
                </a:solidFill>
              </a:rPr>
              <a:t>②</a:t>
            </a:r>
            <a:r>
              <a:rPr lang="ja" sz="1800">
                <a:solidFill>
                  <a:schemeClr val="dk2"/>
                </a:solidFill>
              </a:rPr>
              <a:t>引去結果：</a:t>
            </a:r>
            <a:r>
              <a:rPr b="1" lang="ja" sz="1800">
                <a:solidFill>
                  <a:schemeClr val="dk2"/>
                </a:solidFill>
              </a:rPr>
              <a:t>不明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800">
                <a:solidFill>
                  <a:schemeClr val="dk2"/>
                </a:solidFill>
              </a:rPr>
              <a:t>③</a:t>
            </a:r>
            <a:r>
              <a:rPr lang="ja" sz="1800">
                <a:solidFill>
                  <a:schemeClr val="dk2"/>
                </a:solidFill>
              </a:rPr>
              <a:t>発生原因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・クラウドPOSの異常の可能性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・顔認証端末のNWの異常の可能性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外設機_</a:t>
            </a:r>
            <a:r>
              <a:rPr lang="ja"/>
              <a:t>引き去り</a:t>
            </a:r>
            <a:r>
              <a:rPr lang="ja"/>
              <a:t>結果</a:t>
            </a:r>
            <a:r>
              <a:rPr lang="ja"/>
              <a:t>不明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6439200" y="1681700"/>
            <a:ext cx="2644500" cy="117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592000" y="986425"/>
            <a:ext cx="7065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</a:t>
            </a:r>
            <a:r>
              <a:rPr lang="ja" sz="1800">
                <a:solidFill>
                  <a:schemeClr val="dk2"/>
                </a:solidFill>
              </a:rPr>
              <a:t>売上登録方法：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店内POSの顔認証端末側</a:t>
            </a:r>
            <a:r>
              <a:rPr lang="ja" sz="1800">
                <a:solidFill>
                  <a:schemeClr val="dk2"/>
                </a:solidFill>
              </a:rPr>
              <a:t>で「電子マネー</a:t>
            </a:r>
            <a:r>
              <a:rPr lang="ja" sz="1800">
                <a:solidFill>
                  <a:schemeClr val="dk2"/>
                </a:solidFill>
              </a:rPr>
              <a:t>利用履歴」を照会する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④-1:</a:t>
            </a:r>
            <a:r>
              <a:rPr lang="ja" sz="1800">
                <a:solidFill>
                  <a:schemeClr val="dk2"/>
                </a:solidFill>
              </a:rPr>
              <a:t>利用金額とレシート金額同じ且つ直近利用の場合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　→引き去り済み→掛売登録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④-2：</a:t>
            </a:r>
            <a:r>
              <a:rPr lang="ja" sz="1800">
                <a:solidFill>
                  <a:schemeClr val="dk2"/>
                </a:solidFill>
              </a:rPr>
              <a:t>利</a:t>
            </a:r>
            <a:r>
              <a:rPr lang="ja" sz="1800">
                <a:solidFill>
                  <a:schemeClr val="dk2"/>
                </a:solidFill>
              </a:rPr>
              <a:t>用金額がなし orレシートと違う金額の場合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      →引き去りなし→通常売上登録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④-3：照会に失敗の場合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上位サーバ異常なので、一旦掛売登録を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行い、電子マネーの引き去りは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コールセンターで行う。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外設機_</a:t>
            </a:r>
            <a:r>
              <a:rPr lang="ja"/>
              <a:t>引き去り結果不明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825" y="2797413"/>
            <a:ext cx="1406525" cy="195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4325" y="1603250"/>
            <a:ext cx="2363750" cy="3304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23"/>
          <p:cNvCxnSpPr/>
          <p:nvPr/>
        </p:nvCxnSpPr>
        <p:spPr>
          <a:xfrm flipH="1" rot="10800000">
            <a:off x="6065450" y="3174963"/>
            <a:ext cx="834600" cy="12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支払い時の運用方法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１，セルフ概設機側で支払いエラー発生時の運用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>
                <a:solidFill>
                  <a:srgbClr val="FF0000"/>
                </a:solidFill>
              </a:rPr>
              <a:t>２，店内POS側で支払いエラー発生時の運用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１，売上</a:t>
            </a:r>
            <a:br>
              <a:rPr lang="ja"/>
            </a:br>
            <a:r>
              <a:rPr lang="ja"/>
              <a:t>→</a:t>
            </a:r>
            <a:r>
              <a:rPr b="1" lang="ja"/>
              <a:t>登録</a:t>
            </a:r>
            <a:r>
              <a:rPr b="1" lang="ja"/>
              <a:t>された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２，電子マネー</a:t>
            </a:r>
            <a:br>
              <a:rPr lang="ja"/>
            </a:br>
            <a:r>
              <a:rPr lang="ja"/>
              <a:t>①引き去りされた</a:t>
            </a:r>
            <a:br>
              <a:rPr lang="ja"/>
            </a:br>
            <a:r>
              <a:rPr lang="ja"/>
              <a:t>②引き去りされてない</a:t>
            </a:r>
            <a:br>
              <a:rPr lang="ja"/>
            </a:br>
            <a:r>
              <a:rPr lang="ja"/>
              <a:t>③引き去り結果不明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※</a:t>
            </a:r>
            <a:r>
              <a:rPr lang="ja"/>
              <a:t>掛売登録は、電子マネー支払いないので対象外</a:t>
            </a:r>
            <a:endParaRPr/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店内POS</a:t>
            </a:r>
            <a:r>
              <a:rPr lang="ja"/>
              <a:t>で支払い時にエラー発生の場合</a:t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3209900" y="1279750"/>
            <a:ext cx="359100" cy="2069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3917350" y="2166675"/>
            <a:ext cx="524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売上登録が必要</a:t>
            </a:r>
            <a:r>
              <a:rPr lang="ja" sz="1800">
                <a:solidFill>
                  <a:schemeClr val="dk2"/>
                </a:solidFill>
              </a:rPr>
              <a:t>なし</a:t>
            </a:r>
            <a:r>
              <a:rPr lang="ja" sz="1800">
                <a:solidFill>
                  <a:schemeClr val="dk2"/>
                </a:solidFill>
              </a:rPr>
              <a:t>、電子マネーは引き去り結果によって、対応方法が違う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店内POS_</a:t>
            </a:r>
            <a:r>
              <a:rPr lang="ja"/>
              <a:t>引き去りされた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325" y="1603250"/>
            <a:ext cx="2363750" cy="3304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592000" y="1215025"/>
            <a:ext cx="5987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直近電子マネー利用履歴の金額と</a:t>
            </a:r>
            <a:r>
              <a:rPr lang="ja" sz="1800">
                <a:solidFill>
                  <a:schemeClr val="dk2"/>
                </a:solidFill>
              </a:rPr>
              <a:t>レシートの利用金額が同じ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②引去結果：</a:t>
            </a:r>
            <a:r>
              <a:rPr b="1" lang="ja" sz="1800">
                <a:solidFill>
                  <a:schemeClr val="dk2"/>
                </a:solidFill>
              </a:rPr>
              <a:t>引き去りされた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③発生原因：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・電子マネーサーバと通信に異常が発生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（要求は電子マネーサーバに届いたが、戻ってない）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④対策：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ＯＫなので、なにもなし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592000" y="1215025"/>
            <a:ext cx="5987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直近電子マネー利用履歴の金額とレシートの利用金額が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不一致の場合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②引去結果：</a:t>
            </a:r>
            <a:r>
              <a:rPr b="1" lang="ja" sz="1800">
                <a:solidFill>
                  <a:schemeClr val="dk2"/>
                </a:solidFill>
              </a:rPr>
              <a:t>引き去りされ</a:t>
            </a:r>
            <a:r>
              <a:rPr b="1" lang="ja" sz="1800">
                <a:solidFill>
                  <a:schemeClr val="dk2"/>
                </a:solidFill>
              </a:rPr>
              <a:t>てない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③発生原因：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・電子マネーサーバと通信に異常が発生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（要求は電子マネーサーバに届いたが、戻ってない）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④対策：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コールセンター連絡し、電子マネーの引き去りを行う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店内POS_</a:t>
            </a:r>
            <a:r>
              <a:rPr lang="ja"/>
              <a:t>引き去りされてない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100" y="1170125"/>
            <a:ext cx="2259500" cy="314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311700" y="1181000"/>
            <a:ext cx="5987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①現象：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数回「利用履歴</a:t>
            </a:r>
            <a:r>
              <a:rPr lang="ja" sz="1800">
                <a:solidFill>
                  <a:schemeClr val="dk2"/>
                </a:solidFill>
              </a:rPr>
              <a:t>照会</a:t>
            </a:r>
            <a:r>
              <a:rPr lang="ja" sz="1800">
                <a:solidFill>
                  <a:schemeClr val="dk2"/>
                </a:solidFill>
              </a:rPr>
              <a:t>」</a:t>
            </a:r>
            <a:r>
              <a:rPr lang="ja" sz="1800">
                <a:solidFill>
                  <a:schemeClr val="dk2"/>
                </a:solidFill>
              </a:rPr>
              <a:t>を実行し</a:t>
            </a:r>
            <a:r>
              <a:rPr lang="ja" sz="1800">
                <a:solidFill>
                  <a:schemeClr val="dk2"/>
                </a:solidFill>
              </a:rPr>
              <a:t>ても、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失敗のメッセージのまま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②引去結果：</a:t>
            </a:r>
            <a:r>
              <a:rPr b="1" lang="ja" sz="1800">
                <a:solidFill>
                  <a:schemeClr val="dk2"/>
                </a:solidFill>
              </a:rPr>
              <a:t>不明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③発生原因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・電子マネーサーバ異常の可能性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・クラウドPOSの異常の可能性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・顔認証端末のNWの異常の可能性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④対策：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しばらく時間経ってから、再度照会を行う。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払ってない場合、コールセンターにて対応を行う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店内POS_</a:t>
            </a:r>
            <a:r>
              <a:rPr lang="ja"/>
              <a:t>引き去り結果不明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925" y="335975"/>
            <a:ext cx="2539800" cy="3540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6420575" y="1248825"/>
            <a:ext cx="2644500" cy="117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